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1274A"/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846320"/>
            <a:ext cx="4023360" cy="4023360"/>
          </a:xfrm>
          <a:prstGeom prst="ellipse">
            <a:avLst/>
          </a:prstGeom>
          <a:solidFill>
            <a:srgbClr val="1127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ENGINEERING PROJECT  •  MACHINE LEARNING &amp; DATA ANALYTICS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Demand Forecasting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future product demand from historical sales, pricing and seasonal data using regression-based Machine Learning models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520293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568756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993392" y="50749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08" y="520293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64792" y="568756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163824" y="50749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520293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35224" y="568756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334256" y="50749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520293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105656" y="568756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504688" y="50749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704" y="5202936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76088" y="568756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7249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09928"/>
            <a:ext cx="502920" cy="502920"/>
          </a:xfrm>
          <a:prstGeom prst="ellipse">
            <a:avLst/>
          </a:prstGeom>
          <a:solidFill>
            <a:srgbClr val="0B5D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33172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274320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10128" y="1508760"/>
            <a:ext cx="27249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11296" y="1709928"/>
            <a:ext cx="502920" cy="502920"/>
          </a:xfrm>
          <a:prstGeom prst="ellipse">
            <a:avLst/>
          </a:prstGeom>
          <a:solidFill>
            <a:srgbClr val="0B5D8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828800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1296" y="233172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11296" y="274320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Notebook, VS Code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63056" y="1508760"/>
            <a:ext cx="27249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64224" y="1709928"/>
            <a:ext cx="502920" cy="502920"/>
          </a:xfrm>
          <a:prstGeom prst="ellipse">
            <a:avLst/>
          </a:prstGeom>
          <a:solidFill>
            <a:srgbClr val="0B5D8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828800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33172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&amp; Processing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64224" y="274320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CSV Dataset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15984" y="1508760"/>
            <a:ext cx="27249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17152" y="1709928"/>
            <a:ext cx="502920" cy="502920"/>
          </a:xfrm>
          <a:prstGeom prst="ellipse">
            <a:avLst/>
          </a:prstGeom>
          <a:solidFill>
            <a:srgbClr val="0B5D8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1828800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17152" y="233172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217152" y="274320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3776472"/>
            <a:ext cx="27249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8368" y="3977640"/>
            <a:ext cx="502920" cy="502920"/>
          </a:xfrm>
          <a:prstGeom prst="ellipse">
            <a:avLst/>
          </a:prstGeom>
          <a:solidFill>
            <a:srgbClr val="0B5D8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96512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8368" y="459943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58368" y="5010912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Linear Regression, Decision Tree, Random Forest, XGBoost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10128" y="3776472"/>
            <a:ext cx="27249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11296" y="3977640"/>
            <a:ext cx="502920" cy="502920"/>
          </a:xfrm>
          <a:prstGeom prst="ellipse">
            <a:avLst/>
          </a:prstGeom>
          <a:solidFill>
            <a:srgbClr val="0B5D8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0168" y="4096512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11296" y="459943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Tuning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511296" y="5010912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RandomizedSearchCV, TimeSeriesSplit, Cross-validation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163056" y="3776472"/>
            <a:ext cx="27249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364224" y="3977640"/>
            <a:ext cx="502920" cy="502920"/>
          </a:xfrm>
          <a:prstGeom prst="ellipse">
            <a:avLst/>
          </a:prstGeom>
          <a:solidFill>
            <a:srgbClr val="0B5D8A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3096" y="4096512"/>
            <a:ext cx="265176" cy="26517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64224" y="459943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364224" y="5010912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R² Score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015984" y="3776472"/>
            <a:ext cx="27249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217152" y="3977640"/>
            <a:ext cx="502920" cy="502920"/>
          </a:xfrm>
          <a:prstGeom prst="ellipse">
            <a:avLst/>
          </a:prstGeom>
          <a:solidFill>
            <a:srgbClr val="0B5D8A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024" y="4096512"/>
            <a:ext cx="265176" cy="26517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17152" y="459943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/ Application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217152" y="5010912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Joblib, Pickle (.pkl) files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demand forecasting matters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businesses need to predict future product demand accurately. Demand depends on many changing factors — promotions, discounts, holidays, weather, prices and broader economic conditions — which makes manual planning unreliable.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44165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4297680"/>
            <a:ext cx="3977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forecasting model can adapt to these factors far better than manual estimation.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897880" y="1554480"/>
            <a:ext cx="5806440" cy="4480560"/>
          </a:xfrm>
          <a:prstGeom prst="roundRect">
            <a:avLst>
              <a:gd name="adj" fmla="val 1633"/>
            </a:avLst>
          </a:prstGeom>
          <a:solidFill>
            <a:srgbClr val="0A1A3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of inaccurate prediction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17920" y="2331720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239572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75120" y="230428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Overstocking → higher inventory &amp; storage cost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17920" y="3044952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310896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30175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 → lost sales opportunities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17920" y="3758184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3822192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75120" y="373075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inventory planning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17920" y="4471416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4535424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75120" y="444398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handling promotions, discounts &amp; holidays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217920" y="5184648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5248656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75120" y="515721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handling weather, price &amp; economic shifts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based Demand Forecasting System that learns patterns from historical data and predicts future demand.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2139696" cy="1965960"/>
          </a:xfrm>
          <a:prstGeom prst="roundRect">
            <a:avLst>
              <a:gd name="adj" fmla="val 3721"/>
            </a:avLst>
          </a:prstGeom>
          <a:solidFill>
            <a:srgbClr val="0B5D8A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" y="21671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" y="25146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" y="2843784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historical demand-related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34056" y="2057400"/>
            <a:ext cx="2139696" cy="1965960"/>
          </a:xfrm>
          <a:prstGeom prst="roundRect">
            <a:avLst>
              <a:gd name="adj" fmla="val 3721"/>
            </a:avLst>
          </a:prstGeom>
          <a:solidFill>
            <a:srgbClr val="0B5D8A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21671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80360" y="25146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80360" y="2843784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and preprocesses the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65192" y="2057400"/>
            <a:ext cx="2139696" cy="1965960"/>
          </a:xfrm>
          <a:prstGeom prst="roundRect">
            <a:avLst>
              <a:gd name="adj" fmla="val 3721"/>
            </a:avLst>
          </a:prstGeom>
          <a:solidFill>
            <a:srgbClr val="0B5D8A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11496" y="21671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11496" y="25146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111496" y="2843784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useful time-based features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96328" y="2057400"/>
            <a:ext cx="2139696" cy="1965960"/>
          </a:xfrm>
          <a:prstGeom prst="roundRect">
            <a:avLst>
              <a:gd name="adj" fmla="val 3721"/>
            </a:avLst>
          </a:prstGeom>
          <a:solidFill>
            <a:srgbClr val="0B5D8A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42632" y="21671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42632" y="25146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42632" y="2843784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relevant input features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427464" y="2057400"/>
            <a:ext cx="2139696" cy="1965960"/>
          </a:xfrm>
          <a:prstGeom prst="roundRect">
            <a:avLst>
              <a:gd name="adj" fmla="val 3721"/>
            </a:avLst>
          </a:prstGeom>
          <a:solidFill>
            <a:srgbClr val="0B5D8A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73768" y="21671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73768" y="25146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573768" y="2843784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data chronologically (train / test)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187952"/>
            <a:ext cx="2139696" cy="196596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9224" y="464515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9224" y="4974336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multiple regression models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34056" y="4187952"/>
            <a:ext cx="2139696" cy="196596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880360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880360" y="464515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2880360" y="4974336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model hyperparameters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65192" y="4187952"/>
            <a:ext cx="2139696" cy="196596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111496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111496" y="464515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111496" y="4974336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models with regression metrics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96328" y="4187952"/>
            <a:ext cx="2139696" cy="196596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42632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342632" y="464515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342632" y="4974336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trained model with Joblib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427464" y="4187952"/>
            <a:ext cx="2139696" cy="196596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573768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573768" y="464515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9573768" y="4974336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Streamlit prediction interface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337560" cy="4480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9659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2606040" cy="0"/>
          </a:xfrm>
          <a:prstGeom prst="line">
            <a:avLst/>
          </a:prstGeom>
          <a:noFill/>
          <a:ln w="12700">
            <a:solidFill>
              <a:srgbClr val="DFE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29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future_demand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434840"/>
            <a:ext cx="2606040" cy="0"/>
          </a:xfrm>
          <a:prstGeom prst="line">
            <a:avLst/>
          </a:prstGeom>
          <a:noFill/>
          <a:ln w="12700">
            <a:solidFill>
              <a:srgbClr val="DF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61772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is used only as an identifier — not treated as a normal continuous numerical feature.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77640" y="1554480"/>
            <a:ext cx="7726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9768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 Features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97680" y="2331720"/>
            <a:ext cx="2331720" cy="658368"/>
          </a:xfrm>
          <a:prstGeom prst="roundRect">
            <a:avLst>
              <a:gd name="adj" fmla="val 69444"/>
            </a:avLst>
          </a:prstGeom>
          <a:solidFill>
            <a:srgbClr val="F5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3317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sales_units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66560" y="2331720"/>
            <a:ext cx="2331720" cy="658368"/>
          </a:xfrm>
          <a:prstGeom prst="roundRect">
            <a:avLst>
              <a:gd name="adj" fmla="val 69444"/>
            </a:avLst>
          </a:prstGeom>
          <a:solidFill>
            <a:srgbClr val="F5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3317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holiday_season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235440" y="2331720"/>
            <a:ext cx="2331720" cy="658368"/>
          </a:xfrm>
          <a:prstGeom prst="roundRect">
            <a:avLst>
              <a:gd name="adj" fmla="val 69444"/>
            </a:avLst>
          </a:prstGeom>
          <a:solidFill>
            <a:srgbClr val="F5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23317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promotion_applied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3127248"/>
            <a:ext cx="2331720" cy="658368"/>
          </a:xfrm>
          <a:prstGeom prst="roundRect">
            <a:avLst>
              <a:gd name="adj" fmla="val 69444"/>
            </a:avLst>
          </a:prstGeom>
          <a:solidFill>
            <a:srgbClr val="F5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312724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competitor_price_index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66560" y="3127248"/>
            <a:ext cx="2331720" cy="658368"/>
          </a:xfrm>
          <a:prstGeom prst="roundRect">
            <a:avLst>
              <a:gd name="adj" fmla="val 69444"/>
            </a:avLst>
          </a:prstGeom>
          <a:solidFill>
            <a:srgbClr val="F5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312724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economic_index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235440" y="3127248"/>
            <a:ext cx="2331720" cy="658368"/>
          </a:xfrm>
          <a:prstGeom prst="roundRect">
            <a:avLst>
              <a:gd name="adj" fmla="val 69444"/>
            </a:avLst>
          </a:prstGeom>
          <a:solidFill>
            <a:srgbClr val="F5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0" y="312724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weather_impact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97680" y="3922776"/>
            <a:ext cx="2331720" cy="658368"/>
          </a:xfrm>
          <a:prstGeom prst="roundRect">
            <a:avLst>
              <a:gd name="adj" fmla="val 69444"/>
            </a:avLst>
          </a:prstGeom>
          <a:solidFill>
            <a:srgbClr val="F5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392277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66560" y="3922776"/>
            <a:ext cx="2331720" cy="658368"/>
          </a:xfrm>
          <a:prstGeom prst="roundRect">
            <a:avLst>
              <a:gd name="adj" fmla="val 69444"/>
            </a:avLst>
          </a:prstGeom>
          <a:solidFill>
            <a:srgbClr val="F5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392277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discount_percentage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235440" y="3922776"/>
            <a:ext cx="2331720" cy="658368"/>
          </a:xfrm>
          <a:prstGeom prst="roundRect">
            <a:avLst>
              <a:gd name="adj" fmla="val 69444"/>
            </a:avLst>
          </a:prstGeom>
          <a:solidFill>
            <a:srgbClr val="F5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0" y="392277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97680" y="4718304"/>
            <a:ext cx="2331720" cy="658368"/>
          </a:xfrm>
          <a:prstGeom prst="roundRect">
            <a:avLst>
              <a:gd name="adj" fmla="val 69444"/>
            </a:avLst>
          </a:prstGeom>
          <a:solidFill>
            <a:srgbClr val="F5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471830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store_type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766560" y="4718304"/>
            <a:ext cx="2331720" cy="658368"/>
          </a:xfrm>
          <a:prstGeom prst="roundRect">
            <a:avLst>
              <a:gd name="adj" fmla="val 69444"/>
            </a:avLst>
          </a:prstGeom>
          <a:solidFill>
            <a:srgbClr val="F5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471830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235440" y="4718304"/>
            <a:ext cx="2331720" cy="658368"/>
          </a:xfrm>
          <a:prstGeom prst="roundRect">
            <a:avLst>
              <a:gd name="adj" fmla="val 69444"/>
            </a:avLst>
          </a:prstGeom>
          <a:solidFill>
            <a:srgbClr val="F5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35440" y="471830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DATA 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347472" cy="347472"/>
          </a:xfrm>
          <a:prstGeom prst="ellipse">
            <a:avLst/>
          </a:prstGeom>
          <a:solidFill>
            <a:srgbClr val="0B5D8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3317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CSV dataset using Pandas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953512"/>
            <a:ext cx="347472" cy="347472"/>
          </a:xfrm>
          <a:prstGeom prst="ellipse">
            <a:avLst/>
          </a:prstGeom>
          <a:solidFill>
            <a:srgbClr val="0B5D8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95351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date column into datetime format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575304"/>
            <a:ext cx="347472" cy="347472"/>
          </a:xfrm>
          <a:prstGeom prst="ellipse">
            <a:avLst/>
          </a:prstGeom>
          <a:solidFill>
            <a:srgbClr val="0B5D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75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57530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and prepare correct data types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197096"/>
            <a:ext cx="347472" cy="347472"/>
          </a:xfrm>
          <a:prstGeom prst="ellipse">
            <a:avLst/>
          </a:prstGeom>
          <a:solidFill>
            <a:srgbClr val="0B5D8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97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1970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Boolean variables into 0 / 1 where required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4818888"/>
            <a:ext cx="347472" cy="347472"/>
          </a:xfrm>
          <a:prstGeom prst="ellipse">
            <a:avLst/>
          </a:prstGeom>
          <a:solidFill>
            <a:srgbClr val="0B5D8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818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81888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already-encoded categorical variables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5440680"/>
            <a:ext cx="347472" cy="347472"/>
          </a:xfrm>
          <a:prstGeom prst="ellipse">
            <a:avLst/>
          </a:prstGeom>
          <a:solidFill>
            <a:srgbClr val="0B5D8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440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54406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useful features, then separate features (X) and target (y)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49440" y="155448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0A1A3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69480" y="18288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2" y="1947672"/>
            <a:ext cx="265176" cy="26517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909560" y="1847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Scaling for Tree Models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269480" y="251460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is not used for the tree-based models in this project. Decision Tree, Random Forest and XGBoost split data based on threshold rules, not distances — so feature scaling is not required for them.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TIME SIGNALS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date, five new features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0A1A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65960" y="2926080"/>
            <a:ext cx="365760" cy="32004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383280"/>
            <a:ext cx="4480560" cy="402336"/>
          </a:xfrm>
          <a:prstGeom prst="roundRect">
            <a:avLst>
              <a:gd name="adj" fmla="val 68182"/>
            </a:avLst>
          </a:prstGeom>
          <a:solidFill>
            <a:srgbClr val="F5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3832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33832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867912"/>
            <a:ext cx="4480560" cy="402336"/>
          </a:xfrm>
          <a:prstGeom prst="roundRect">
            <a:avLst>
              <a:gd name="adj" fmla="val 68182"/>
            </a:avLst>
          </a:prstGeom>
          <a:solidFill>
            <a:srgbClr val="F5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8679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38679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352544"/>
            <a:ext cx="4480560" cy="402336"/>
          </a:xfrm>
          <a:prstGeom prst="roundRect">
            <a:avLst>
              <a:gd name="adj" fmla="val 68182"/>
            </a:avLst>
          </a:prstGeom>
          <a:solidFill>
            <a:srgbClr val="F5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3525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435254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837176"/>
            <a:ext cx="4480560" cy="402336"/>
          </a:xfrm>
          <a:prstGeom prst="roundRect">
            <a:avLst>
              <a:gd name="adj" fmla="val 68182"/>
            </a:avLst>
          </a:prstGeom>
          <a:solidFill>
            <a:srgbClr val="F5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8371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48371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weekday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5321808"/>
            <a:ext cx="4480560" cy="402336"/>
          </a:xfrm>
          <a:prstGeom prst="roundRect">
            <a:avLst>
              <a:gd name="adj" fmla="val 68182"/>
            </a:avLst>
          </a:prstGeom>
          <a:solidFill>
            <a:srgbClr val="F5F9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3218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week_of_year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53218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week #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1554480"/>
            <a:ext cx="5669280" cy="4480560"/>
          </a:xfrm>
          <a:prstGeom prst="roundRect">
            <a:avLst>
              <a:gd name="adj" fmla="val 163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time-based features?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55080" y="23774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engineered features allow the model to identify seasonal and time-related demand patterns — such as weekday effects, monthly cycles, and week-of-year seasonality — that raw dates alone cannot capture.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(EDA)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patterns are analyzed visually using Matplotlib before modeling.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2286000"/>
            <a:ext cx="731520" cy="731520"/>
          </a:xfrm>
          <a:prstGeom prst="ellipse">
            <a:avLst/>
          </a:prstGeom>
          <a:solidFill>
            <a:srgbClr val="0B5D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064" y="247802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00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Average Demand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749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how average future demand shifts month over month.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00984" y="19659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61104" y="2286000"/>
            <a:ext cx="731520" cy="731520"/>
          </a:xfrm>
          <a:prstGeom prst="ellipse">
            <a:avLst/>
          </a:prstGeom>
          <a:solidFill>
            <a:srgbClr val="0B5D8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247802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83864" y="3200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Relationships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83864" y="3749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how input features relate to one another and to demand.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99048" y="19659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59168" y="2286000"/>
            <a:ext cx="731520" cy="731520"/>
          </a:xfrm>
          <a:prstGeom prst="ellipse">
            <a:avLst/>
          </a:prstGeom>
          <a:solidFill>
            <a:srgbClr val="0B5D8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247802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81928" y="3200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81928" y="3749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inputs influence the model’s predictions most.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897112" y="19659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857232" y="2286000"/>
            <a:ext cx="731520" cy="731520"/>
          </a:xfrm>
          <a:prstGeom prst="ellipse">
            <a:avLst/>
          </a:prstGeom>
          <a:solidFill>
            <a:srgbClr val="0B5D8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256" y="247802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79992" y="3200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Trends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079992" y="3749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overall trend and seasonality in historical demand.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0A1A3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Regression Problem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Supervised Machine Learning Regression problem, because the target variable future_demand is a continuous numerical value — not a category or class.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3931920"/>
            <a:ext cx="4480560" cy="0"/>
          </a:xfrm>
          <a:prstGeom prst="line">
            <a:avLst/>
          </a:prstGeom>
          <a:noFill/>
          <a:ln w="12700">
            <a:solidFill>
              <a:srgbClr val="2C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1480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from labeled historical examples (inputs → known demand) and generalizes to predict demand for new, unseen inputs.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521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&amp; Compared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852160" y="233172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23317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3317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52160" y="3264408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3264408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326440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Regressor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52160" y="4197096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4197096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419709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52160" y="5129784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0B5D8A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80760" y="5129784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9400" y="5129784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&amp; MODEL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 &amp; Decision Tree Regressor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B5D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9595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the baseline model. It attempts to model the linear relationship between input features and future demand.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used: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7947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 and easy to interpret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reference point before trying complex models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highlights whether relationships are mostly linear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5544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39" y="1959559"/>
            <a:ext cx="241402" cy="24140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58368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195681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2376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Regressor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583680" y="2468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demand through a sequence of decision rules that split the data at each node.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583680" y="320040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0A1A33"/>
          </a:solidFill>
          <a:ln/>
        </p:spPr>
      </p:sp>
      <p:sp>
        <p:nvSpPr>
          <p:cNvPr id="19" name="Text 14"/>
          <p:cNvSpPr/>
          <p:nvPr/>
        </p:nvSpPr>
        <p:spPr>
          <a:xfrm>
            <a:off x="6766560" y="320040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&gt; X?  →  Promotion = Yes?  →  Holiday = Yes?  →  Predict Demand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583680" y="4572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hyperparameters: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583680" y="4846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  ·   min_samples_split   ·   min_samples_leaf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9436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combines the predictions of many Decision Trees and aggregates them into one output.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multiple decision trees on different data samples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dependence on any single tree’s errors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able to model complex, nonlinear relationships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parameters: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46634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  ·   max_depth   ·   min_samples_split   ·   min_samples_leaf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5120" y="1554480"/>
            <a:ext cx="5029200" cy="4480560"/>
          </a:xfrm>
          <a:prstGeom prst="roundRect">
            <a:avLst>
              <a:gd name="adj" fmla="val 1633"/>
            </a:avLst>
          </a:prstGeom>
          <a:solidFill>
            <a:srgbClr val="0A1A3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9516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 → One Prediction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223760" y="2423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560320"/>
            <a:ext cx="274320" cy="2743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138160" y="2423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560320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052560" y="2423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560320"/>
            <a:ext cx="274320" cy="274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966960" y="2423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256032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498080" y="2971800"/>
            <a:ext cx="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412480" y="2971800"/>
            <a:ext cx="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326880" y="2971800"/>
            <a:ext cx="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0241280" y="2971800"/>
            <a:ext cx="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498080" y="3474720"/>
            <a:ext cx="2743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686800" y="3429000"/>
            <a:ext cx="365760" cy="36576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5" name="Shape 19"/>
          <p:cNvSpPr/>
          <p:nvPr/>
        </p:nvSpPr>
        <p:spPr>
          <a:xfrm>
            <a:off x="7680960" y="39776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0B5D8A"/>
          </a:solidFill>
          <a:ln/>
        </p:spPr>
      </p:sp>
      <p:sp>
        <p:nvSpPr>
          <p:cNvPr id="26" name="Text 20"/>
          <p:cNvSpPr/>
          <p:nvPr/>
        </p:nvSpPr>
        <p:spPr>
          <a:xfrm>
            <a:off x="7680960" y="39776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 — FEATURED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Regressor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= Extreme Gradient Boosting — builds trees sequentially, each one correcting the errors of the previous tree.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0A1A3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1031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87168" y="2596896"/>
            <a:ext cx="219456" cy="201168"/>
          </a:xfrm>
          <a:prstGeom prst="rightArrow">
            <a:avLst/>
          </a:prstGeom>
          <a:solidFill>
            <a:srgbClr val="3FC1C9"/>
          </a:solidFill>
          <a:ln/>
        </p:spPr>
      </p:sp>
      <p:sp>
        <p:nvSpPr>
          <p:cNvPr id="8" name="Shape 6"/>
          <p:cNvSpPr/>
          <p:nvPr/>
        </p:nvSpPr>
        <p:spPr>
          <a:xfrm>
            <a:off x="2724912" y="21031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24912" y="21031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596896"/>
            <a:ext cx="219456" cy="201168"/>
          </a:xfrm>
          <a:prstGeom prst="rightArrow">
            <a:avLst/>
          </a:prstGeom>
          <a:solidFill>
            <a:srgbClr val="3FC1C9"/>
          </a:solidFill>
          <a:ln/>
        </p:spPr>
      </p:sp>
      <p:sp>
        <p:nvSpPr>
          <p:cNvPr id="11" name="Shape 9"/>
          <p:cNvSpPr/>
          <p:nvPr/>
        </p:nvSpPr>
        <p:spPr>
          <a:xfrm>
            <a:off x="4946904" y="21031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0A1A3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46904" y="21031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Error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31152" y="2596896"/>
            <a:ext cx="219456" cy="201168"/>
          </a:xfrm>
          <a:prstGeom prst="rightArrow">
            <a:avLst/>
          </a:prstGeom>
          <a:solidFill>
            <a:srgbClr val="3FC1C9"/>
          </a:solidFill>
          <a:ln/>
        </p:spPr>
      </p:sp>
      <p:sp>
        <p:nvSpPr>
          <p:cNvPr id="14" name="Shape 12"/>
          <p:cNvSpPr/>
          <p:nvPr/>
        </p:nvSpPr>
        <p:spPr>
          <a:xfrm>
            <a:off x="7168896" y="21031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68896" y="21031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More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53144" y="2596896"/>
            <a:ext cx="219456" cy="201168"/>
          </a:xfrm>
          <a:prstGeom prst="rightArrow">
            <a:avLst/>
          </a:prstGeom>
          <a:solidFill>
            <a:srgbClr val="3FC1C9"/>
          </a:solidFill>
          <a:ln/>
        </p:spPr>
      </p:sp>
      <p:sp>
        <p:nvSpPr>
          <p:cNvPr id="17" name="Shape 15"/>
          <p:cNvSpPr/>
          <p:nvPr/>
        </p:nvSpPr>
        <p:spPr>
          <a:xfrm>
            <a:off x="9390888" y="21031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0B5D8A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90888" y="21031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65760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 was included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42519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8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nonlinear relationships in the data</a:t>
            </a:r>
            <a:endParaRPr lang="en-US" sz="118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8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interactions between features</a:t>
            </a:r>
            <a:endParaRPr lang="en-US" sz="118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8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powerful tree-based boosting algorithm</a:t>
            </a:r>
            <a:endParaRPr lang="en-US" sz="118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8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comparing against simpler models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309360" y="36576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0A1A3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29400" y="3886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tuned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62940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  ·   learning_rate   ·   max_depth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4800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In this project’s current results, XGBoost is not the best-performing model — see the Model Results slide for the actual comparison.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TO TRAIN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Train-Test Split &amp; Hyperparameter Tuning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Train-Test Split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this is a forecasting problem, data is split chronologically rather than randomly.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3063240"/>
            <a:ext cx="3950208" cy="548640"/>
          </a:xfrm>
          <a:prstGeom prst="rect">
            <a:avLst/>
          </a:prstGeom>
          <a:solidFill>
            <a:srgbClr val="0B5D8A"/>
          </a:solidFill>
          <a:ln/>
        </p:spPr>
      </p:sp>
      <p:sp>
        <p:nvSpPr>
          <p:cNvPr id="8" name="Shape 6"/>
          <p:cNvSpPr/>
          <p:nvPr/>
        </p:nvSpPr>
        <p:spPr>
          <a:xfrm>
            <a:off x="4727448" y="3063240"/>
            <a:ext cx="987552" cy="548640"/>
          </a:xfrm>
          <a:prstGeom prst="rect">
            <a:avLst/>
          </a:prstGeom>
          <a:solidFill>
            <a:srgbClr val="3FC1C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63240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27448" y="306324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records → training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0" y="3703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records → testing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41605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Future information must never influence training when evaluating a forecasting model.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5544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0A1A3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8368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6517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8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different hyperparameter combinations</a:t>
            </a:r>
            <a:endParaRPr lang="en-US" sz="118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8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cross-validation to score each combination</a:t>
            </a:r>
            <a:endParaRPr lang="en-US" sz="118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8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 strong combination efficiently — more efficient than testing every possibility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583680" y="4297680"/>
            <a:ext cx="4846320" cy="0"/>
          </a:xfrm>
          <a:prstGeom prst="line">
            <a:avLst/>
          </a:prstGeom>
          <a:noFill/>
          <a:ln w="12700">
            <a:solidFill>
              <a:srgbClr val="2C4A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434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4754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the chronological structure of the data during cross-validation, so folds never validate on data that is "in the past" relative to training data.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920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prediction error.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371600" y="4297680"/>
            <a:ext cx="1828800" cy="384048"/>
          </a:xfrm>
          <a:prstGeom prst="roundRect">
            <a:avLst>
              <a:gd name="adj" fmla="val 7142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297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better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69164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51960" y="1920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8056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3200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larger errors more strongly.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20640" y="4297680"/>
            <a:ext cx="1828800" cy="384048"/>
          </a:xfrm>
          <a:prstGeom prst="roundRect">
            <a:avLst>
              <a:gd name="adj" fmla="val 71429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4297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better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01000" y="169164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0B5D8A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01000" y="1920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2960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3200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demand variation explained by the model.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9680" y="4297680"/>
            <a:ext cx="1828800" cy="384048"/>
          </a:xfrm>
          <a:prstGeom prst="roundRect">
            <a:avLst>
              <a:gd name="adj" fmla="val 71429"/>
            </a:avLst>
          </a:prstGeom>
          <a:solidFill>
            <a:srgbClr val="3FC1C9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0" y="4297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better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50749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R² can also be negative when a model performs worse than a simple average-based baseline.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 THE NOTEBOOK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Model Results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694944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1399032"/>
                <a:gridCol w="1399032"/>
                <a:gridCol w="140817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54.72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54.90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49.18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57.84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-0.141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" y="3794760"/>
            <a:ext cx="6949440" cy="2148840"/>
          </a:xfrm>
          <a:prstGeom prst="roundRect">
            <a:avLst>
              <a:gd name="adj" fmla="val 3404"/>
            </a:avLst>
          </a:prstGeom>
          <a:solidFill>
            <a:srgbClr val="0A1A3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97280" y="40233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97280" y="4389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achieved the best test-set metrics among the models currently recorded in the notebook. These values are error and fit metrics, not accuracy percentages.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" y="51663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R² values are negative — the current models are not explaining test-set variation well. Further feature and model improvement would be useful.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01000" y="1691640"/>
            <a:ext cx="3703320" cy="425196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7532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on this data (so far)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75320" y="2331720"/>
            <a:ext cx="640080" cy="640080"/>
          </a:xfrm>
          <a:prstGeom prst="ellipse">
            <a:avLst/>
          </a:prstGeom>
          <a:solidFill>
            <a:srgbClr val="0B5D8A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1741" y="249814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01000" y="3154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275320" y="36118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MAE and RMSE, and the least-negative R² among the three recorded models.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NOTEBOOK TO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Saving with Joblib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B5D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0171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Persisting the trained model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is saved using Joblib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demand_forecasting_model.pkl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list used for training is also saved with Joblib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4297680"/>
            <a:ext cx="4754880" cy="548640"/>
          </a:xfrm>
          <a:prstGeom prst="roundRect">
            <a:avLst>
              <a:gd name="adj" fmla="val 16667"/>
            </a:avLst>
          </a:prstGeom>
          <a:solidFill>
            <a:srgbClr val="0A1A33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4297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demand_forecasting_model.pkl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1600200"/>
            <a:ext cx="5532120" cy="4434840"/>
          </a:xfrm>
          <a:prstGeom prst="roundRect">
            <a:avLst>
              <a:gd name="adj" fmla="val 164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92240" y="24231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does not need to be retrained every time the application starts. The Streamlit application simply loads the saved .pkl file and directly makes predictions — making the system fast and production-ready.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USER-FACING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Prediction Application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interface where users enter input values and receive an instant demand prediction.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72237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7627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2606040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F5F9FC"/>
          </a:solidFill>
          <a:ln w="12700">
            <a:solidFill>
              <a:srgbClr val="DFE7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60604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Units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27248" y="2606040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F5F9FC"/>
          </a:solidFill>
          <a:ln w="12700">
            <a:solidFill>
              <a:srgbClr val="DFE7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27248" y="260604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Season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77256" y="2606040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F5F9FC"/>
          </a:solidFill>
          <a:ln w="12700">
            <a:solidFill>
              <a:srgbClr val="DFE7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77256" y="260604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7240" y="3227832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F5F9FC"/>
          </a:solidFill>
          <a:ln w="12700">
            <a:solidFill>
              <a:srgbClr val="DFE7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322783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Price Index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127248" y="3227832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F5F9FC"/>
          </a:solidFill>
          <a:ln w="12700">
            <a:solidFill>
              <a:srgbClr val="DFE7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27248" y="322783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Index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77256" y="3227832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F5F9FC"/>
          </a:solidFill>
          <a:ln w="12700">
            <a:solidFill>
              <a:srgbClr val="DFE7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77256" y="322783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Impact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77240" y="3849624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F5F9FC"/>
          </a:solidFill>
          <a:ln w="12700">
            <a:solidFill>
              <a:srgbClr val="DFE7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384962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127248" y="3849624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F5F9FC"/>
          </a:solidFill>
          <a:ln w="12700">
            <a:solidFill>
              <a:srgbClr val="DFE7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27248" y="384962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77256" y="3849624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F5F9FC"/>
          </a:solidFill>
          <a:ln w="12700">
            <a:solidFill>
              <a:srgbClr val="DFE7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77256" y="384962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77240" y="4471416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F5F9FC"/>
          </a:solidFill>
          <a:ln w="12700">
            <a:solidFill>
              <a:srgbClr val="DFE7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4471416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Type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127248" y="4471416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F5F9FC"/>
          </a:solidFill>
          <a:ln w="12700">
            <a:solidFill>
              <a:srgbClr val="DFE7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27248" y="4471416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77256" y="4471416"/>
            <a:ext cx="2240280" cy="512064"/>
          </a:xfrm>
          <a:prstGeom prst="roundRect">
            <a:avLst>
              <a:gd name="adj" fmla="val 14286"/>
            </a:avLst>
          </a:prstGeom>
          <a:solidFill>
            <a:srgbClr val="F5F9FC"/>
          </a:solidFill>
          <a:ln w="12700">
            <a:solidFill>
              <a:srgbClr val="DFE7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77256" y="4471416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Date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77240" y="5257800"/>
            <a:ext cx="6675120" cy="594360"/>
          </a:xfrm>
          <a:prstGeom prst="roundRect">
            <a:avLst>
              <a:gd name="adj" fmla="val 53846"/>
            </a:avLst>
          </a:prstGeom>
          <a:solidFill>
            <a:srgbClr val="0B5D8A"/>
          </a:solidFill>
          <a:ln/>
        </p:spPr>
      </p:sp>
      <p:sp>
        <p:nvSpPr>
          <p:cNvPr id="34" name="Text 31"/>
          <p:cNvSpPr/>
          <p:nvPr/>
        </p:nvSpPr>
        <p:spPr>
          <a:xfrm>
            <a:off x="777240" y="52578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Demand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7818120" y="3566160"/>
            <a:ext cx="502920" cy="365760"/>
          </a:xfrm>
          <a:prstGeom prst="rightArrow">
            <a:avLst/>
          </a:prstGeom>
          <a:solidFill>
            <a:srgbClr val="3FC1C9"/>
          </a:solidFill>
          <a:ln/>
        </p:spPr>
      </p:sp>
      <p:sp>
        <p:nvSpPr>
          <p:cNvPr id="36" name="Shape 33"/>
          <p:cNvSpPr/>
          <p:nvPr/>
        </p:nvSpPr>
        <p:spPr>
          <a:xfrm>
            <a:off x="8412480" y="320040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0A1A33"/>
          </a:solidFill>
          <a:ln/>
          <a:effectLst>
            <a:outerShdw sx="100000" sy="100000" kx="0" ky="0" algn="bl" rotWithShape="0" blurRad="101600" dist="25400" dir="5400000">
              <a:srgbClr val="9BB3C4">
                <a:alpha val="3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686800" y="3429000"/>
            <a:ext cx="548640" cy="548640"/>
          </a:xfrm>
          <a:prstGeom prst="ellipse">
            <a:avLst/>
          </a:prstGeom>
          <a:solidFill>
            <a:srgbClr val="3FC1C9"/>
          </a:solidFill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3566160"/>
            <a:ext cx="274320" cy="27432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841248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Future Demand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8549640" y="4572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instantly by the loaded ML model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1274A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91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18688" y="2066544"/>
            <a:ext cx="16459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16916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1274A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1691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25896" y="2066544"/>
            <a:ext cx="16459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6208776" y="16916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1274A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1691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33104" y="2066544"/>
            <a:ext cx="16459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9015984" y="16916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1274A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15984" y="1691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236708" y="2624328"/>
            <a:ext cx="164592" cy="283464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926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1274A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26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18688" y="3300984"/>
            <a:ext cx="16459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3401568" y="2926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1274A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2926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25896" y="3300984"/>
            <a:ext cx="16459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6208776" y="2926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1274A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08776" y="2926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33104" y="3300984"/>
            <a:ext cx="16459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9015984" y="2926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1274A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15984" y="2926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236708" y="3858768"/>
            <a:ext cx="164592" cy="283464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16052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1274A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160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18688" y="4535424"/>
            <a:ext cx="16459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3401568" y="416052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1274A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4160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Saving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25896" y="4535424"/>
            <a:ext cx="16459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6208776" y="416052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1274A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08776" y="4160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833104" y="4535424"/>
            <a:ext cx="16459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37" name="Shape 35"/>
          <p:cNvSpPr/>
          <p:nvPr/>
        </p:nvSpPr>
        <p:spPr>
          <a:xfrm>
            <a:off x="9015984" y="416052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3FC1C9"/>
          </a:solidFill>
          <a:ln w="12700">
            <a:solidFill>
              <a:srgbClr val="3FC1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15984" y="4160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→ Prediction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1127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historical business data end-to-end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useful temporal features from raw dates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multiple regression algorithms fairly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hyperparameter tuning for model optimization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models using standard regression metrics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trained model and serves it via Streamlit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11274A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historical data &amp; lag / rolling-average features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time-series models &amp; seasonal forecasting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hyperparameter optimization &amp; feature selection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integration and cloud deployment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optimization &amp; automated reorder recommendations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55778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5669280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33272" y="6035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971800" y="55778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566928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24912" y="6035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663440" y="55778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566928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16552" y="6035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355080" y="55778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66928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08192" y="6035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8046720" y="55778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5669280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99832" y="6035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9738360" y="55778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5669280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491472" y="6035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850" dirty="0"/>
          </a:p>
        </p:txBody>
      </p:sp>
      <p:sp>
        <p:nvSpPr>
          <p:cNvPr id="28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1274A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114800"/>
            <a:ext cx="5029200" cy="5029200"/>
          </a:xfrm>
          <a:prstGeom prst="ellipse">
            <a:avLst/>
          </a:prstGeom>
          <a:solidFill>
            <a:srgbClr val="11274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2976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Demand Forecasting Using Machine Learning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2026-09-25T04:24:13Z</dcterms:created>
  <dcterms:modified xsi:type="dcterms:W3CDTF">2026-09-25T04:24:13Z</dcterms:modified>
</cp:coreProperties>
</file>